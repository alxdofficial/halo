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Movement Monitoring — Tasks, Workflows,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666666"/>
                </a:solidFill>
                <a:latin typeface="Arial"/>
              </a:rPr>
              <a:t>1 Sep 2026 · branch application-motion-monitoring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Three real-world scenarios, three tasks  ·  encoder-to-prediction workflow  ·  how the training and evaluation data is 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Three real-world scenarios, three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Each task imitates one concrete situation a clinician, patient, or ergonomist is 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520440" cy="420624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" cy="420624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tas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19072" y="17373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A64A8"/>
                </a:solidFill>
                <a:latin typeface="Arial"/>
              </a:rP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0299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3063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Scenario: a clinician demonstrates an exercise; later, did it happen again?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03320"/>
            <a:ext cx="30632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Given a few reference executions, locate that same movement in a continuous recording — different session, speed, or device mounting.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417320"/>
            <a:ext cx="3520440" cy="420624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15968" y="1417320"/>
            <a:ext cx="82296" cy="4206240"/>
          </a:xfrm>
          <a:prstGeom prst="rect">
            <a:avLst/>
          </a:prstGeom>
          <a:solidFill>
            <a:srgbClr val="7B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s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60020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17373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B4B94"/>
                </a:solidFill>
                <a:latin typeface="Arial"/>
              </a:rPr>
              <a:t>TASK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0299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063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Scenario: is this week's exercise different from last week's, for this person?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03320"/>
            <a:ext cx="30632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For repeated executions of one task, quantify how it changed relative to the person's own accepted baseline — not a population norm.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417320"/>
            <a:ext cx="3520440" cy="420624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83296" y="1417320"/>
            <a:ext cx="82296" cy="420624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task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600200"/>
            <a:ext cx="777240" cy="777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53728" y="17373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5651D"/>
                </a:solidFill>
                <a:latin typeface="Arial"/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0299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DISCOVER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651760"/>
            <a:ext cx="3063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Scenario: an ergonomist reviews an unlabeled shift and finds what repeats.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703320"/>
            <a:ext cx="30632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Cluster recurring motion motifs in a continuous recording with no reference and no predefined activity vocabulary.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0644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One shared primitive underneath all three: timestamped patch embeddings, never pooled into a single vector per recording.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Task 1 — Detect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Given one or a few reference executions, did the movement occur in a later recording, and where?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Real-world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clinician records several acceptable repetitions of a prescribed exercise in clinic — or a worker demonstrates an arbitrary personal task, “exercise one.”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system later scans a continuous home or field recording, counts detected repetitions, and returns the matching intervals for inspection.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reference's language label is irrelevant — names are never a required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What the system must handle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later execution may differ in speed, amplitude, ordinary repetition variability, session, or device mounting.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Reference and query must be independent executions — never two windows from one bout.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Recordings with no target occurrence, and hard negatives from the same person, device, and activity family.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Output: event intervals, match scores, and the retrieved reference evidence behind each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Task 1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Reference executions and a continuous query timeline, both through the same frozen encoder.</a:t>
            </a:r>
          </a:p>
        </p:txBody>
      </p:sp>
      <p:pic>
        <p:nvPicPr>
          <p:cNvPr id="5" name="Picture 4" descr="workflow_tas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86" y="1572768"/>
            <a:ext cx="11089178" cy="30632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9204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The task head is a search over the whole timeline, not a per-window classifier — background dominates a continuous recording.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B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Task 2 —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For executions known to represent the same task, which differences are ordinary variation and which are a persistent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Real-world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Track whether a rehabilitation exercise, or a worker's task execution, is changing across days or weeks.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comparison is always against that person's own accepted baseline — not against another person or a population average.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Alignment should ignore properties like speed while keeping others, like duration, visible rather than discarding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What the system must handle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Separate test-retest and device-remounting noise from a real persistent change — the change must exceed that noise floor.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Isolated outliers should be suppressed while persistent drift and its uncertainty are retained.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Without external ground truth the output is difference, never “quality” or “improvement.”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Output: aligned latent-shape deviation, phase-local deviation, duration / intensity / smoothness deltas, and uncertainty vs. personal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B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Task 2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Two independent executions of the same declared task, reference and comparison.</a:t>
            </a:r>
          </a:p>
        </p:txBody>
      </p:sp>
      <p:pic>
        <p:nvPicPr>
          <p:cNvPr id="5" name="Picture 4" descr="workflow_tas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86" y="1572768"/>
            <a:ext cx="11089178" cy="30632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9204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The task head aligns by phase, not by clock time, so duration differences stay visible instead of being warped 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Task 3 —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Which coherent motion motifs recur frequently in an unlabeled continuous recording?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Real-world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An ergonomist records a work shift with no reference and no predefined activity vocabulary.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system surfaces the most frequently recurring motion motifs for review; the ergonomist names the ones that matter.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Named motifs are promoted into Task 1 as references for future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What the system must handle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IMU data cannot prove intent — a coherent motif is not assumed meaningful until a human confirms it.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same-motion metric trains on arbitrary labeled event identities; evaluation identities and label names stay hidden from clustering.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Recurrence, stable internal ordering, and within-cluster similarity greater than similarity to local background.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Output: recurring motif clusters — count, duration, cadence, representative examples, and timeline locations, pending human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Task 3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One continuous, unlabeled recording; no reference, no vocabulary.</a:t>
            </a:r>
          </a:p>
        </p:txBody>
      </p:sp>
      <p:pic>
        <p:nvPicPr>
          <p:cNvPr id="5" name="Picture 4" descr="workflow_tas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86" y="1572768"/>
            <a:ext cx="11089178" cy="30632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9204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The task head never sees a label name — only which candidates were marked the same event during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How the training and evaluation data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No dataset both trains and evaluates the same arm.</a:t>
            </a:r>
          </a:p>
        </p:txBody>
      </p:sp>
      <p:pic>
        <p:nvPicPr>
          <p:cNvPr id="4" name="Picture 3" descr="datase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53118"/>
            <a:ext cx="10424160" cy="41688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Training sources never contribute to a sealed test, and a sealed source is never fit or calibrated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Dataset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The eight newly-verified sources behind Tasks 1–3. Highlighted rows are sealed eval sources; the rest are train. HARMES (existing corpus source) is tracked in the corpus docs, not repeated here.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1672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051560"/>
                <a:gridCol w="1234440"/>
                <a:gridCol w="868680"/>
                <a:gridCol w="1143000"/>
                <a:gridCol w="868680"/>
                <a:gridCol w="4873752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recordings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length / recording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total length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subjects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labels (#)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</a:rPr>
                        <a:t>labels &amp; acquisition</a:t>
                      </a:r>
                    </a:p>
                  </a:txBody>
                  <a:tcPr marL="64008" marR="64008" marT="27432" marB="27432" anchor="ctr">
                    <a:solidFill>
                      <a:srgbClr val="EFEF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C-MHAD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240 streams
(12 subj × 2 apps × 10 runs)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~119–122 s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8.0 h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5 TV gestures + 7 sit/stand/lie transitions · wrist or waist Shimmer3 IMU 50 Hz + sync video (unused)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WEAR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24 sessions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~50 min avg (varies)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19.0 h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18 (+NULL)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18 outdoor sports activities · 4 limb Bangle.js watches 50 Hz, 2 arm streams used, + egocentric video (unused)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MoniPar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174 weekly sessions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405–445 s (~7 min)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~20 h*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28 (21 PD + 7 ctrl)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9 clinical exercise labels · wrist smartwatch 50 Hz, gravity present, weekly protocol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OCA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12 sessions (13 parts)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~14–56 min (varies)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6.0 h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6 (+NULL)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3F6B4A"/>
                          </a:solidFill>
                          <a:latin typeface="Arial"/>
                        </a:rPr>
                        <a:t>6 assembly-phase labels · 4 BNO055 IMUs (2 upper-arm, 2 chest/vest), ~20–27 Hz native, arm-support flag</a:t>
                      </a:r>
                    </a:p>
                  </a:txBody>
                  <a:tcPr marL="64008" marR="64008" marT="27432" marB="27432" anchor="ctr">
                    <a:solidFill>
                      <a:srgbClr val="EF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OpenPack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416 IMU segments
(gap-split)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varies by session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53.8 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16 (21 raw IDs, 5 aliased)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n/a—interval IDs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Nested fine-action / operation / box-cycle identities, not a closed vocabulary · wrist+arm ATR IMU ~30 Hz, 4 sensors/subject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CrossFit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446 exercise arrays
(+5,461 rep slices)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~31 s avg (derived)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3.834 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57 codes (50 active;
paper: 54 people)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10 (+NULL)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10 exercises, repetition starts cued by watch vibration · wrist+ankle smartwatch ~100 Hz, authors' 10 ms interpolation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AIDLAB-HAR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180 EDF recordings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short, unstated exact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not stated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90 codes (not
verified unique)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13 exercises + 3 background-like classes · chest AIDLAB IMU 50 Hz, acceleration only (no raw gyro)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RecoFit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126 visits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varies (continuous)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79.4 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n/a—weak labels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Arial"/>
                        </a:rPr>
                        <a:t>Broad weakly-labeled exercise-set vocabulary + explicit non-exercise background · right-forearm 50 Hz acceleration + gyroscope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89904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19" b="0" i="1">
                <a:solidFill>
                  <a:srgbClr val="666666"/>
                </a:solidFill>
                <a:latin typeface="Arial"/>
              </a:rPr>
              <a:t>* MoniPar total length is derived (sessions × median duration); the release does not publish a total directly. MoniPar serves Task 1 (cross-week) only — its states are not independent repetition executions, so it is excluded from Task 2. MoniPar and HARMES are not yet in the frozen COHORT_V1 manifest (older storage, pending a reviewed adapter revision) — the other six rows are. “not stated” / “n/a” cells are genuine gaps in the source documentation, not omissions.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